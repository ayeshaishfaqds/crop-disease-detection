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8383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3986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0758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41510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68661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9068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2016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1642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74051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99185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096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85737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1974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30311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3717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37256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965AE-00C8-4177-984A-0DB3EA061FD1}" type="datetimeFigureOut">
              <a:rPr lang="en-PK" smtClean="0"/>
              <a:t>31/01/2026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9CCB980-0AD1-4381-B95D-8AA066FBF9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7271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3BA9E-1CAB-1058-7535-05755DD64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849" y="1455410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en-US" dirty="0"/>
              <a:t>Plant Disease Detection Using Vision </a:t>
            </a:r>
            <a:r>
              <a:rPr lang="en-US" dirty="0" err="1"/>
              <a:t>Tranformer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FAC17-94F6-2D5A-24F6-8D6362FB4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0849" y="3541546"/>
            <a:ext cx="7766936" cy="1096899"/>
          </a:xfrm>
        </p:spPr>
        <p:txBody>
          <a:bodyPr>
            <a:noAutofit/>
          </a:bodyPr>
          <a:lstStyle/>
          <a:p>
            <a:r>
              <a:rPr lang="en-US" sz="2000" b="1" dirty="0"/>
              <a:t>A Deep Learning Approach for Agriculture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Ayesha | SU92-MSDSW-F25-032</a:t>
            </a:r>
          </a:p>
          <a:p>
            <a:r>
              <a:rPr lang="en-US" sz="2000" b="1" dirty="0"/>
              <a:t>MS Data Science | January 30, 2026</a:t>
            </a:r>
          </a:p>
        </p:txBody>
      </p:sp>
    </p:spTree>
    <p:extLst>
      <p:ext uri="{BB962C8B-B14F-4D97-AF65-F5344CB8AC3E}">
        <p14:creationId xmlns:p14="http://schemas.microsoft.com/office/powerpoint/2010/main" val="1210546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45A8-338F-D650-C29B-05A9B1F8C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259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Introduction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2A69-6D9B-0149-6346-F78D924E3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342" y="1354239"/>
            <a:ext cx="8058660" cy="468712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dirty="0"/>
              <a:t>- Plant diseases cause 20-40% crop loss annually worldwide</a:t>
            </a:r>
          </a:p>
          <a:p>
            <a:r>
              <a:rPr lang="en-US" dirty="0"/>
              <a:t>- Early detection is critical for food security</a:t>
            </a:r>
          </a:p>
          <a:p>
            <a:r>
              <a:rPr lang="en-US" dirty="0"/>
              <a:t>- Manual inspection is time-consuming and error-prone</a:t>
            </a:r>
          </a:p>
          <a:p>
            <a:endParaRPr lang="en-US" dirty="0"/>
          </a:p>
          <a:p>
            <a:r>
              <a:rPr lang="en-US" b="1" dirty="0"/>
              <a:t>Our Solution</a:t>
            </a:r>
          </a:p>
          <a:p>
            <a:r>
              <a:rPr lang="en-US" dirty="0"/>
              <a:t>- AI-powered plant disease detection system</a:t>
            </a:r>
          </a:p>
          <a:p>
            <a:r>
              <a:rPr lang="en-US" dirty="0"/>
              <a:t>- Uses Transformer-based deep learning</a:t>
            </a:r>
          </a:p>
          <a:p>
            <a:r>
              <a:rPr lang="en-US" dirty="0"/>
              <a:t>- Analyzes leaf images to identify 38 different diseases</a:t>
            </a:r>
          </a:p>
          <a:p>
            <a:endParaRPr lang="en-US" dirty="0"/>
          </a:p>
          <a:p>
            <a:r>
              <a:rPr lang="en-US" b="1" dirty="0"/>
              <a:t>Impact</a:t>
            </a:r>
          </a:p>
          <a:p>
            <a:r>
              <a:rPr lang="en-US" dirty="0"/>
              <a:t>- Helps farmers detect diseases early</a:t>
            </a:r>
          </a:p>
          <a:p>
            <a:r>
              <a:rPr lang="en-US" dirty="0"/>
              <a:t>- Reduces crop losses and increases yield</a:t>
            </a:r>
          </a:p>
          <a:p>
            <a:r>
              <a:rPr lang="en-US" dirty="0"/>
              <a:t>- Supports SDG 2: Zero Hunger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79510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A550-8185-6356-A611-BE955A542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5190"/>
          </a:xfrm>
        </p:spPr>
        <p:txBody>
          <a:bodyPr/>
          <a:lstStyle/>
          <a:p>
            <a:pPr algn="ctr"/>
            <a:r>
              <a:rPr lang="en-US" dirty="0"/>
              <a:t>Project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1F96B-461B-7C7C-6A13-421C5B583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343" y="1688597"/>
            <a:ext cx="8197556" cy="4559803"/>
          </a:xfrm>
        </p:spPr>
        <p:txBody>
          <a:bodyPr>
            <a:normAutofit/>
          </a:bodyPr>
          <a:lstStyle/>
          <a:p>
            <a:r>
              <a:rPr lang="en-US" b="1" dirty="0"/>
              <a:t>Primary Objectives</a:t>
            </a:r>
          </a:p>
          <a:p>
            <a:r>
              <a:rPr lang="en-US" dirty="0"/>
              <a:t>- Develop an automated plant disease detection system</a:t>
            </a:r>
          </a:p>
          <a:p>
            <a:r>
              <a:rPr lang="en-US" dirty="0"/>
              <a:t>- Implement Transformer-based deep learning architecture</a:t>
            </a:r>
          </a:p>
          <a:p>
            <a:r>
              <a:rPr lang="en-US" dirty="0"/>
              <a:t>- Achieve minimum 75% classification accuracy</a:t>
            </a:r>
          </a:p>
          <a:p>
            <a:endParaRPr lang="en-US" dirty="0"/>
          </a:p>
          <a:p>
            <a:r>
              <a:rPr lang="en-US" b="1" dirty="0"/>
              <a:t>Technical Goals</a:t>
            </a:r>
          </a:p>
          <a:p>
            <a:r>
              <a:rPr lang="en-US" dirty="0"/>
              <a:t>- Process 54,000+ images across 38 disease classes</a:t>
            </a:r>
          </a:p>
          <a:p>
            <a:r>
              <a:rPr lang="en-US" dirty="0"/>
              <a:t>- Train lightweight model optimized for CPU</a:t>
            </a:r>
          </a:p>
          <a:p>
            <a:r>
              <a:rPr lang="en-US" dirty="0"/>
              <a:t>- Create deployable solution for real-world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771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E680-82DB-B5AB-9375-4F306A45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6267D-F3E1-9DF4-480E-80D6F297A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Research Goals</a:t>
            </a:r>
          </a:p>
          <a:p>
            <a:r>
              <a:rPr lang="en-US" dirty="0"/>
              <a:t>- Compare CNN-Transformer hybrid performance</a:t>
            </a:r>
          </a:p>
          <a:p>
            <a:r>
              <a:rPr lang="en-US" dirty="0"/>
              <a:t>- Document challenges in resource-constrained training</a:t>
            </a:r>
          </a:p>
          <a:p>
            <a:r>
              <a:rPr lang="en-US" dirty="0"/>
              <a:t>- Contribute to agriculture AI applications</a:t>
            </a:r>
            <a:endParaRPr lang="en-PK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64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00DFC-9D72-24D8-BED1-1ED4DF730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9914"/>
          </a:xfrm>
        </p:spPr>
        <p:txBody>
          <a:bodyPr/>
          <a:lstStyle/>
          <a:p>
            <a:pPr algn="ctr"/>
            <a:r>
              <a:rPr lang="en-US" dirty="0"/>
              <a:t>SDG 2: Zero Hunger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1CF60-4FAC-925A-67F7-B8CE5104A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Project Supports SDG 2</a:t>
            </a:r>
          </a:p>
          <a:p>
            <a:endParaRPr lang="en-US" dirty="0"/>
          </a:p>
          <a:p>
            <a:r>
              <a:rPr lang="en-US" b="1" dirty="0"/>
              <a:t>Challenge</a:t>
            </a:r>
          </a:p>
          <a:p>
            <a:r>
              <a:rPr lang="en-US" dirty="0"/>
              <a:t>- 690 million people face hunger globally</a:t>
            </a:r>
          </a:p>
          <a:p>
            <a:r>
              <a:rPr lang="en-US" dirty="0"/>
              <a:t>- Agricultural losses due to diseases threaten food security</a:t>
            </a:r>
          </a:p>
          <a:p>
            <a:r>
              <a:rPr lang="en-US" dirty="0"/>
              <a:t>- Small-scale farmers lack access to expert diagnosis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815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57171-353B-444E-6385-E1454945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87BD-034B-52DD-94DE-B2ED5D779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4239"/>
            <a:ext cx="8596668" cy="4687124"/>
          </a:xfrm>
        </p:spPr>
        <p:txBody>
          <a:bodyPr>
            <a:normAutofit/>
          </a:bodyPr>
          <a:lstStyle/>
          <a:p>
            <a:r>
              <a:rPr lang="en-US" b="1" dirty="0"/>
              <a:t> Contribution</a:t>
            </a:r>
          </a:p>
          <a:p>
            <a:r>
              <a:rPr lang="en-US" dirty="0"/>
              <a:t>- Early disease detection prevents crop losses</a:t>
            </a:r>
          </a:p>
          <a:p>
            <a:r>
              <a:rPr lang="en-US" dirty="0"/>
              <a:t>- Accessible AI tool for resource-limited farmers</a:t>
            </a:r>
          </a:p>
          <a:p>
            <a:r>
              <a:rPr lang="en-US" dirty="0"/>
              <a:t>- Supports sustainable agricultural productivity</a:t>
            </a:r>
          </a:p>
          <a:p>
            <a:r>
              <a:rPr lang="en-US" dirty="0"/>
              <a:t>- Reduces post-harvest losses</a:t>
            </a:r>
          </a:p>
          <a:p>
            <a:endParaRPr lang="en-US" dirty="0"/>
          </a:p>
          <a:p>
            <a:r>
              <a:rPr lang="en-US" b="1" dirty="0"/>
              <a:t>Real-World Impact</a:t>
            </a:r>
          </a:p>
          <a:p>
            <a:r>
              <a:rPr lang="en-US" dirty="0"/>
              <a:t>- Protects farmer livelihoods</a:t>
            </a:r>
          </a:p>
          <a:p>
            <a:r>
              <a:rPr lang="en-US" dirty="0"/>
              <a:t>- Increases food availability</a:t>
            </a:r>
          </a:p>
          <a:p>
            <a:r>
              <a:rPr lang="en-US" dirty="0"/>
              <a:t>- Promotes sustainable farming practices</a:t>
            </a:r>
          </a:p>
          <a:p>
            <a:r>
              <a:rPr lang="en-US" dirty="0"/>
              <a:t>- Empowers farmers with technology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21156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E13A-4014-1EA1-8DFE-C98D8C74E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1489"/>
          </a:xfrm>
        </p:spPr>
        <p:txBody>
          <a:bodyPr/>
          <a:lstStyle/>
          <a:p>
            <a:pPr algn="ctr"/>
            <a:r>
              <a:rPr lang="en-US" dirty="0"/>
              <a:t>Methodology &amp; Approach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08315-F559-1617-102D-C0710D5F8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82501"/>
            <a:ext cx="8596668" cy="425886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Dataset</a:t>
            </a:r>
          </a:p>
          <a:p>
            <a:r>
              <a:rPr lang="en-US" dirty="0"/>
              <a:t>- </a:t>
            </a:r>
            <a:r>
              <a:rPr lang="en-US" dirty="0" err="1"/>
              <a:t>PlantVillage</a:t>
            </a:r>
            <a:r>
              <a:rPr lang="en-US" dirty="0"/>
              <a:t> Dataset: 54,305 images</a:t>
            </a:r>
          </a:p>
          <a:p>
            <a:r>
              <a:rPr lang="en-US" dirty="0"/>
              <a:t>- 38 plant disease classes</a:t>
            </a:r>
          </a:p>
          <a:p>
            <a:r>
              <a:rPr lang="en-US" dirty="0"/>
              <a:t>- Train-Test Split: 80%-20% (43,444 training, 10,861 testing)</a:t>
            </a:r>
          </a:p>
          <a:p>
            <a:endParaRPr lang="en-US" dirty="0"/>
          </a:p>
          <a:p>
            <a:r>
              <a:rPr lang="en-US" b="1" dirty="0"/>
              <a:t>Training Configuration</a:t>
            </a:r>
          </a:p>
          <a:p>
            <a:r>
              <a:rPr lang="en-US" dirty="0"/>
              <a:t>- Framework: </a:t>
            </a:r>
            <a:r>
              <a:rPr lang="en-US" dirty="0" err="1"/>
              <a:t>PyTorch</a:t>
            </a:r>
            <a:r>
              <a:rPr lang="en-US" dirty="0"/>
              <a:t> 2.9.1</a:t>
            </a:r>
          </a:p>
          <a:p>
            <a:r>
              <a:rPr lang="en-US" dirty="0"/>
              <a:t>- Device: CPU (Intel i5-1235U, 8GB RAM)</a:t>
            </a:r>
          </a:p>
          <a:p>
            <a:r>
              <a:rPr lang="en-US" dirty="0"/>
              <a:t>- Optimizer: Adam (learning rate: 0.001)</a:t>
            </a:r>
          </a:p>
          <a:p>
            <a:r>
              <a:rPr lang="en-US" dirty="0"/>
              <a:t>- Loss Function: Cross-Entropy</a:t>
            </a:r>
          </a:p>
          <a:p>
            <a:r>
              <a:rPr lang="en-US" dirty="0"/>
              <a:t>- Epochs: 5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67865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715-7474-E4FC-A2E2-16A64C0E4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Architecture</a:t>
            </a:r>
            <a:br>
              <a:rPr lang="en-US" dirty="0"/>
            </a:br>
            <a:endParaRPr lang="en-PK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AAB25C3-BD6B-324A-D180-0DAAFB02F5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1608882"/>
            <a:ext cx="4183062" cy="424357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9A6FF-8DE3-ABB7-DEE8-C7E0B756F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68" y="1976700"/>
            <a:ext cx="4184034" cy="4432480"/>
          </a:xfrm>
        </p:spPr>
        <p:txBody>
          <a:bodyPr/>
          <a:lstStyle/>
          <a:p>
            <a:r>
              <a:rPr lang="en-US" dirty="0"/>
              <a:t>- Hybrid CNN-Transformer Model</a:t>
            </a:r>
          </a:p>
          <a:p>
            <a:r>
              <a:rPr lang="en-US" dirty="0"/>
              <a:t>- CNN layers for feature extraction (3 blocks)</a:t>
            </a:r>
          </a:p>
          <a:p>
            <a:r>
              <a:rPr lang="en-US" dirty="0"/>
              <a:t>- Transformer layers for pattern recognition (2 layers)</a:t>
            </a:r>
          </a:p>
          <a:p>
            <a:r>
              <a:rPr lang="en-US" dirty="0"/>
              <a:t>- Total parameters: 533,926 (lightweight design)</a:t>
            </a:r>
          </a:p>
          <a:p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32146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768A-B340-5849-C392-07CA4904B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0466"/>
          </a:xfrm>
        </p:spPr>
        <p:txBody>
          <a:bodyPr/>
          <a:lstStyle/>
          <a:p>
            <a:pPr algn="ctr"/>
            <a:r>
              <a:rPr lang="en-US" dirty="0"/>
              <a:t>Training Results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7D6F7-08B9-B571-D985-806207C8F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367" y="1469986"/>
            <a:ext cx="8596668" cy="458295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Final Accuracy: 94.61%</a:t>
            </a:r>
          </a:p>
          <a:p>
            <a:r>
              <a:rPr lang="en-US" dirty="0"/>
              <a:t>- Final Loss: 0.1678</a:t>
            </a:r>
          </a:p>
          <a:p>
            <a:endParaRPr lang="en-US" dirty="0"/>
          </a:p>
          <a:p>
            <a:r>
              <a:rPr lang="en-US" b="1" dirty="0"/>
              <a:t>Epoch-wise Progress</a:t>
            </a:r>
          </a:p>
          <a:p>
            <a:r>
              <a:rPr lang="en-US" dirty="0"/>
              <a:t>- Epoch 1: 74.43% accuracy</a:t>
            </a:r>
          </a:p>
          <a:p>
            <a:r>
              <a:rPr lang="en-US" dirty="0"/>
              <a:t>- Epoch 2: 89.29% accuracy</a:t>
            </a:r>
          </a:p>
          <a:p>
            <a:r>
              <a:rPr lang="en-US" dirty="0"/>
              <a:t>- Epoch 3: 92.43% accuracy</a:t>
            </a:r>
          </a:p>
          <a:p>
            <a:r>
              <a:rPr lang="en-US" dirty="0"/>
              <a:t>- Epoch 4: 93.62% accuracy</a:t>
            </a:r>
          </a:p>
          <a:p>
            <a:r>
              <a:rPr lang="en-US" dirty="0"/>
              <a:t>- Epoch 5: 94.61% accuracy ✓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549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8EAA-6C9A-8401-396B-EEE321B47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C70F2-9B9E-034C-A1FD-FE6A5757B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321" y="2172164"/>
            <a:ext cx="8596668" cy="3880773"/>
          </a:xfrm>
        </p:spPr>
        <p:txBody>
          <a:bodyPr/>
          <a:lstStyle/>
          <a:p>
            <a:r>
              <a:rPr lang="en-US" b="1" dirty="0"/>
              <a:t>Key Achievements</a:t>
            </a:r>
          </a:p>
          <a:p>
            <a:r>
              <a:rPr lang="en-US" dirty="0"/>
              <a:t>- Consistent improvement across all epochs</a:t>
            </a:r>
          </a:p>
          <a:p>
            <a:r>
              <a:rPr lang="en-US" dirty="0"/>
              <a:t>- Smooth learning curve with decreasing loss</a:t>
            </a:r>
          </a:p>
          <a:p>
            <a:r>
              <a:rPr lang="en-US" dirty="0"/>
              <a:t>- No overfitting observed</a:t>
            </a:r>
          </a:p>
          <a:p>
            <a:r>
              <a:rPr lang="en-US" dirty="0"/>
              <a:t>- Lightweight model achieved excellent results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05574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E464-EAE3-B8B0-8423-1A75A31A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 Progress Visualization</a:t>
            </a:r>
            <a:endParaRPr lang="en-PK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8A0ABD1-76EA-33F5-C892-37658B0EC3B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4" r="10574"/>
          <a:stretch>
            <a:fillRect/>
          </a:stretch>
        </p:blipFill>
        <p:spPr>
          <a:xfrm>
            <a:off x="677333" y="609600"/>
            <a:ext cx="8596667" cy="384571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AD0AA-1F09-5C97-428D-F57A81439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51564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CC2E-D7D4-531A-F098-A38FF1DDD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2041"/>
          </a:xfrm>
        </p:spPr>
        <p:txBody>
          <a:bodyPr/>
          <a:lstStyle/>
          <a:p>
            <a:r>
              <a:rPr lang="en-US" dirty="0"/>
              <a:t>Challenges &amp; Key Learnings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3C35C-AB86-3473-F9D6-982773773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5733"/>
            <a:ext cx="8596668" cy="4455630"/>
          </a:xfrm>
        </p:spPr>
        <p:txBody>
          <a:bodyPr>
            <a:normAutofit/>
          </a:bodyPr>
          <a:lstStyle/>
          <a:p>
            <a:r>
              <a:rPr lang="en-US" b="1" dirty="0"/>
              <a:t>Technical Challenges</a:t>
            </a:r>
          </a:p>
          <a:p>
            <a:r>
              <a:rPr lang="en-US" dirty="0"/>
              <a:t>- CPU-only training required optimization strategies</a:t>
            </a:r>
          </a:p>
          <a:p>
            <a:r>
              <a:rPr lang="en-US" dirty="0"/>
              <a:t>- Limited RAM (8GB) needed lightweight model design</a:t>
            </a:r>
          </a:p>
          <a:p>
            <a:r>
              <a:rPr lang="en-US" dirty="0"/>
              <a:t>- Training time: 12+ hours for 5 epochs</a:t>
            </a:r>
          </a:p>
          <a:p>
            <a:r>
              <a:rPr lang="en-US" dirty="0"/>
              <a:t>- </a:t>
            </a:r>
            <a:r>
              <a:rPr lang="en-US" dirty="0" err="1"/>
              <a:t>Jupyter</a:t>
            </a:r>
            <a:r>
              <a:rPr lang="en-US" dirty="0"/>
              <a:t> save errors during long training sessions</a:t>
            </a:r>
          </a:p>
          <a:p>
            <a:endParaRPr lang="en-US" dirty="0"/>
          </a:p>
          <a:p>
            <a:r>
              <a:rPr lang="en-US" b="1" dirty="0"/>
              <a:t>Solutions Implemented</a:t>
            </a:r>
          </a:p>
          <a:p>
            <a:r>
              <a:rPr lang="en-US" dirty="0"/>
              <a:t>- Designed efficient CNN-Transformer hybrid</a:t>
            </a:r>
          </a:p>
          <a:p>
            <a:r>
              <a:rPr lang="en-US" dirty="0"/>
              <a:t>- Reduced model parameters to 533K</a:t>
            </a:r>
          </a:p>
          <a:p>
            <a:r>
              <a:rPr lang="en-US" dirty="0"/>
              <a:t>- Implemented batch processing for memory management</a:t>
            </a:r>
          </a:p>
          <a:p>
            <a:r>
              <a:rPr lang="en-US" dirty="0"/>
              <a:t>- Regular checkpoints during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116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1A93D-8DB6-BDA3-0E22-DEC5CCCA3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2622E-7810-73A0-AE2D-FDC20B1F8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919" y="1782501"/>
            <a:ext cx="8596668" cy="4328309"/>
          </a:xfrm>
        </p:spPr>
        <p:txBody>
          <a:bodyPr/>
          <a:lstStyle/>
          <a:p>
            <a:r>
              <a:rPr lang="en-US" b="1" dirty="0"/>
              <a:t>Key Learnings</a:t>
            </a:r>
          </a:p>
          <a:p>
            <a:r>
              <a:rPr lang="en-US" dirty="0"/>
              <a:t>- Lightweight models can achieve excellent accuracy</a:t>
            </a:r>
          </a:p>
          <a:p>
            <a:r>
              <a:rPr lang="en-US" dirty="0"/>
              <a:t>- Resource constraints drive innovative solutions</a:t>
            </a:r>
          </a:p>
          <a:p>
            <a:r>
              <a:rPr lang="en-US" dirty="0"/>
              <a:t>- Early stopping prevents overfitting effectively</a:t>
            </a:r>
          </a:p>
          <a:p>
            <a:r>
              <a:rPr lang="en-US" dirty="0"/>
              <a:t>- Proper data preprocessing is critical for success</a:t>
            </a:r>
          </a:p>
          <a:p>
            <a:r>
              <a:rPr lang="en-US" dirty="0"/>
              <a:t>- Non-computing background is not a barrier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55644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7D2B-C0FC-8774-36E1-E1E3476CB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87195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Future Scope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39C9C-4946-FC37-0520-7B07BA260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964" y="1832631"/>
            <a:ext cx="8596668" cy="2399836"/>
          </a:xfrm>
        </p:spPr>
        <p:txBody>
          <a:bodyPr/>
          <a:lstStyle/>
          <a:p>
            <a:r>
              <a:rPr lang="en-US" dirty="0"/>
              <a:t>- Mobile app development for farmers </a:t>
            </a:r>
          </a:p>
          <a:p>
            <a:r>
              <a:rPr lang="en-US" dirty="0"/>
              <a:t>- Expand to more crop types and diseases </a:t>
            </a:r>
          </a:p>
          <a:p>
            <a:r>
              <a:rPr lang="en-US" dirty="0"/>
              <a:t>- Real-time detection using smartphone cameras </a:t>
            </a:r>
          </a:p>
          <a:p>
            <a:r>
              <a:rPr lang="en-US" dirty="0"/>
              <a:t>- Integration with agricultural advisory systems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72655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D445-20A9-1909-5201-798C9AA3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69" y="2024604"/>
            <a:ext cx="8003680" cy="1404396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/>
              <a:t>Thank You</a:t>
            </a:r>
            <a:endParaRPr lang="en-PK" sz="8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CDB23-A617-E3B8-EDE9-1C8C4B273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896" y="3711597"/>
            <a:ext cx="8596668" cy="3880773"/>
          </a:xfrm>
        </p:spPr>
        <p:txBody>
          <a:bodyPr>
            <a:normAutofit/>
          </a:bodyPr>
          <a:lstStyle/>
          <a:p>
            <a:r>
              <a:rPr lang="en-US" sz="3600" b="1" dirty="0"/>
              <a:t>Any Question</a:t>
            </a:r>
            <a:endParaRPr lang="en-PK" sz="3600" b="1" dirty="0"/>
          </a:p>
        </p:txBody>
      </p:sp>
    </p:spTree>
    <p:extLst>
      <p:ext uri="{BB962C8B-B14F-4D97-AF65-F5344CB8AC3E}">
        <p14:creationId xmlns:p14="http://schemas.microsoft.com/office/powerpoint/2010/main" val="2657173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63</TotalTime>
  <Words>557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Plant Disease Detection Using Vision Tranformer</vt:lpstr>
      <vt:lpstr>Introduction</vt:lpstr>
      <vt:lpstr>Project Objectives</vt:lpstr>
      <vt:lpstr>PowerPoint Presentation</vt:lpstr>
      <vt:lpstr>SDG 2: Zero Hunger</vt:lpstr>
      <vt:lpstr>PowerPoint Presentation</vt:lpstr>
      <vt:lpstr>Methodology &amp; Approach</vt:lpstr>
      <vt:lpstr>Model Architecture </vt:lpstr>
      <vt:lpstr>Training Results</vt:lpstr>
      <vt:lpstr>PowerPoint Presentation</vt:lpstr>
      <vt:lpstr>Training Progress Visualization</vt:lpstr>
      <vt:lpstr>Challenges &amp; Key Learnings</vt:lpstr>
      <vt:lpstr>PowerPoint Presentation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ayesha ishfaq</dc:creator>
  <cp:lastModifiedBy>ayesha ishfaq</cp:lastModifiedBy>
  <cp:revision>2</cp:revision>
  <dcterms:created xsi:type="dcterms:W3CDTF">2026-01-30T18:48:28Z</dcterms:created>
  <dcterms:modified xsi:type="dcterms:W3CDTF">2026-01-31T19:06:16Z</dcterms:modified>
</cp:coreProperties>
</file>